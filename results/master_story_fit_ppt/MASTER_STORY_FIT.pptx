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P1-C1: At 50 µm the count ratio is 0.854 (7/8); at 100 µm 0.947 (4/8). Inside CLDN4-low the 10 µm immune-fraction ratio stays 0.507 (8/8 and 5/5); rank attenuation after CLDN4 is only 0.124. Not accounted for by the cell's own CLDN4.</a:t>
            </a:r>
          </a:p>
          <a:p>
            <a:r>
              <a:t>P1-C2: East-Asian surgical LUAD, not ICI. Do not quote IMSIG neutrophil partial ρ=−0.456 as CD8.</a:t>
            </a:r>
          </a:p>
          <a:p>
            <a:r>
              <a:t>P1-C3: LUSC is stronger than LUAD (Fisher p=0.023). Single-gene CD8A, not a deconvolution fraction. Not ICI.</a:t>
            </a:r>
          </a:p>
          <a:p>
            <a:r>
              <a:t>P1-C4: LUSC-only. Do not quote the pooled ImmuneScore as a LUAD finding.</a:t>
            </a:r>
          </a:p>
          <a:p>
            <a:r>
              <a:t>P1-C5: The sweep maximum inflates |ρ|. CESC partial ρ=+0.118 on the pre-specified keratin control. Bulk association is not spatial exclusion. KRT5/6-low tertile grid max ρ=−0.152 is a subset, not the all-patient row.</a:t>
            </a:r>
          </a:p>
          <a:p>
            <a:r>
              <a:t>P1-C6: LUAD-only. LSCC CD8 ρ=−0.080 (p=0.41). Treatment-naive surgery. RNA TACSTD2 vs xCell is null (|ρ|≤0.12). TROP2 vs CD8A protein CIs cross 0 in both histologies (#721).</a:t>
            </a:r>
          </a:p>
          <a:p>
            <a:r>
              <a:t>P1-C7: The negative sign does not survive the ESTIMATE partial. East-Asian surgical LUAD.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P1-C8: Not a KL-vs-KP experiment. GSE264739 is opposite (ρ=+0.829, p=0.058). Do not merge with private 8KL. The n=4 ceiling ρ=−1.000 (exact p=0.083) is exploratory (#743), not this row.</a:t>
            </a:r>
          </a:p>
          <a:p>
            <a:r>
              <a:t>P1-C9: The Tacstd2 split is completely genotype-confounded (every KL library is above every KP library). A 192-cell sweep found 0 cells with Tacstd2 and Cldn4 up together with NHEJ down and IFN up.</a:t>
            </a:r>
          </a:p>
          <a:p>
            <a:r>
              <a:t>P1-C10: This is a dissociated detection gap, not patient-level exclusion. MPE sample Spearman is underpowered (3 PE samples with ≥20 carcinoma-like cells). Tumor-site TACSTD2 vs CD8 ρ=+0.11 (n=36, p=0.54, #230).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P1-T1: Handoff TJ +3.03 is a different average. Do not relabel TJ_TISMO +3.269 as +3.03. In vivo Tacstd2, not TJ: GSE6135 Δ=+1.795 (7 vs 5, p=0.00253); GSE164758 Δ=+0.858 (9 vs 8, p=8.2e-5) (#743).</a:t>
            </a:r>
          </a:p>
          <a:p>
            <a:r>
              <a:t>P1-T2: Broad TJ vs T/NK ρ=+0.137 (p=0.60); TJ-core vs T/NK ρ=−0.191 (p=0.41). Do not write that TJ-high excludes T/NK. IFN and MHC are not down on this TACSTD2 split. Locked CLDN4 %pos vs T/NK stays ρ=−0.531.</a:t>
            </a:r>
          </a:p>
          <a:p>
            <a:r>
              <a:t>P1-T3: Hallmark apical junction NES=−1.16 (FDR 0.099), so not every junction set is up. Surgical LUAD, not ICI.</a:t>
            </a:r>
          </a:p>
          <a:p>
            <a:r>
              <a:t>P1-T4: Keratin and EMT match the slide. The KEGG tight-junction set does not.</a:t>
            </a:r>
          </a:p>
          <a:p>
            <a:r>
              <a:t>P1-T5: EMT-down does not replicate as pan-NSCLC (pooled NES +1.30, FDR 0.50). Strict triple intersection (TCGA NSCLC ∩ GSE207422 ∩ GSE131907, r≥0.20, FDR&lt;0.05) is 20 genes and includes CLDN4 and ELF3.</a:t>
            </a:r>
          </a:p>
          <a:p>
            <a:r>
              <a:t>P1-T6: Keratinization NES=1.48 (FDR 0.031) is the weaker companion. Dissociated 10x, treatment-naive, not spatial.</a:t>
            </a:r>
          </a:p>
          <a:p>
            <a:r>
              <a:t>P1-T7: Do not write “TJ is pathway #1” from the broad ranking. Closest broad adhesion call is KEGG CAMs rank 10 in GSE164758 (NES=+2.06).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P1-T8: Public integrate cohorts only. Not merged with private 8KL.</a:t>
            </a:r>
          </a:p>
          <a:p>
            <a:r>
              <a:t>P1-T9: Does not replace locked author-malignant CLDN4–T/NK results. Sample-level TACSTD2 vs T/NK is not supported (3 PE samples).</a:t>
            </a:r>
          </a:p>
          <a:p>
            <a:r>
              <a:t>P1-T10: The 0.846 interval still covers 0.69. Do not quote an RPPA n≈118 (no TROP2/CLDN4 antibodies). Hallmark IFN-γ ρ=+0.339 is positive, so lines are not immune-cold. No T cells and no ICI labels.</a:t>
            </a:r>
          </a:p>
          <a:p>
            <a:r>
              <a:t>P1-T11: COAD and READ are the two non-positive cohorts. COXPRESdb: mouse Tacstd2→Cldn4 is rank 1; human TACSTD2→CLDN4 is rank 3 (#200).</a:t>
            </a:r>
          </a:p>
          <a:p>
            <a:r>
              <a:t>P1-T12: MPE double-positive expression levels are null (ρ=−0.025). ELF3 co-detection OR=22.6 is a different gene.</a:t>
            </a:r>
          </a:p>
          <a:p>
            <a:r>
              <a:t>P1-T13: Broad KEGG tight junction vs CD8 is ρ≈+0.07 (p≈0.10) and is not this limb. This is bulk RNA, not scRNA exclusion.</a:t>
            </a:r>
          </a:p>
          <a:p>
            <a:r>
              <a:t>P1-T14: Continuous CLDN4 alone is ρ=−0.065 (4/5; Lung6 positive). The spec is the most negative 5/5 result in a 2,754-score grid. Only CLDN4 is on the 960-plex. Does not replace locked 0.36 / 0.52.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P2-1: The scVI |ρ| is a searched maximum (permutation p≤0.0015). Sign-only ρ=−0.552 has I²=67% and is not promoted. Largest single locked cohort is GSE123902 ρ=−0.659. Patient-bootstrap median Δ of T/NK = −0.339 (interval −0.444 to −0.093, permutation p=0.003, #714). Do not add GSE148071, GSE127465, GSE154826, GSE200563, or E-MTAB-13526.</a:t>
            </a:r>
          </a:p>
          <a:p>
            <a:r>
              <a:t>P2-2: IFN family logFC is about 0 in this cohort alone. Four PE captures with n_malignant=0 are why the patient ρ is softer than the sample row (ρ=−0.522).</a:t>
            </a:r>
          </a:p>
          <a:p>
            <a:r>
              <a:t>P2-3: 0.229× does not replace 0.36 / 0.52 (different radius, cut, and immune definition). A raw 0.203× failed the absent-arm floor. Patient-bootstrap winner is median corrected log2 ratio −1.307 (equal-patient ratio of means 0.413) at 10 µm, interval entirely below 0 (#714). At 40 µm, median section means are 1.52 vs 2.69 (median Δ=−1.20), lower in 8/8 (#551). Squidpy median-split ratio 0.883 is 7/8 only (#629).</a:t>
            </a:r>
          </a:p>
          <a:p>
            <a:r>
              <a:t>P2-4: Write exclusion, not muzzling. No effector gene is lower in 8/8 sections.</a:t>
            </a:r>
          </a:p>
          <a:p>
            <a:r>
              <a:t>P2-5: A PanCK-high / CD45-low protein index does not show this deficit. F11R and NECTIN2 are absent from the panel. CDH1 is enriched in the contacts that remain (Δ log-norm +0.053).</a:t>
            </a:r>
          </a:p>
          <a:p>
            <a:r>
              <a:t>P2-6: Not detected in Lung5 serial sections. Homogeneous g≪1 versus complete spatial randomness is tumor–stroma geometry and is not a CLDN4-specific claim.</a:t>
            </a:r>
          </a:p>
          <a:p>
            <a:r>
              <a:t>P2-7: GSE131907 alone is flat for IFN. Dropping GSE205335, IFN-γ NES falls to −2.40. KEGG tight junction NES=+1.13 and its bootstrap crosses zero — this ranking is not “TJ pathway up.” Largest signature logFC is −0.971; largest canonical gene is CCL5 −2.451.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P2-8: Treatment-naive surgery, not ICI. Filling the 30 undetected CLDN4 values weakens |ρ| (best filled row −0.474, n=108). The composite is a searched sum; ImmuneScore −0.432 is the pre-specified single-protein row. TJ-15 null on the same freeze is the within-TJ pin.</a:t>
            </a:r>
          </a:p>
          <a:p>
            <a:r>
              <a:t>P2-9: Purity or stromal partial meta ρ=−0.416. The single largest cell (GSE282774 ImmuneScore ρ=−0.690, size 22) is not the cross-study spec. Prefix length was the only size knob; genes were not picked on their CD8 correlation.</a:t>
            </a:r>
          </a:p>
          <a:p>
            <a:r>
              <a:t>P2-10: Do not quote CellChat probability +0.0037 (#616) as the effect size. The probability-scale searched maximum is +0.191 on n=19. CXCL9/10/11 are not barrier-sized. This is expression, not spatial exclusion.</a:t>
            </a:r>
          </a:p>
          <a:p>
            <a:r>
              <a:t>P2-11: No specification wins both the count and the |log2FC|. The earlier 65-down row (median |log2FC| 1.991) is inside the grid and off the front.</a:t>
            </a:r>
          </a:p>
          <a:p>
            <a:r>
              <a:t>P2-12: East-Asian surgical LUAD, not ICI.</a:t>
            </a:r>
          </a:p>
          <a:p>
            <a:r>
              <a:t>P2-13: The partial correlations are not significant.</a:t>
            </a:r>
          </a:p>
          <a:p>
            <a:r>
              <a:t>P2-14: Effects are small, and the sweep inflates them. The surface-gene screen does not pin CLDN4: LUAD rank 7, partial +0.122, with CLDN7 / EPCAM / MUC1 stronger (public handoff). BRCA keratin caveat on the TACSTD2 screen is −0.071.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P2-15: TACSTD2 %pos vs T/NK is itself null (ρ=−0.112, p=0.46). The immune association sits on CLDN4. This is not a claim that TACSTD2 cold is mediated by CLDN4: the concordant-4 and CosMx mediation matrix is null (#718), and no grid row kept a negative direct TACSTD2 coefficient with a mediation proportion inside (0, 1) (#733).</a:t>
            </a:r>
          </a:p>
          <a:p>
            <a:r>
              <a:t>P2-16: Public data do not separate CLDN4 from CLDN7 by a difference test. Inside GSE131907 the CLDN7 keratin partial is stronger (−0.658 vs −0.514). Dropping GSE205335 reverses the meta rank. TCGA keratin CD8 ρ moves from −0.069 to −0.040 after CLDN4 (share 41.3%), but the CLDN4-minus-CLDN7 share interval contains 0, and CLDN4's further share after CLDN7 and EPCAM is 1.8% (#728). Where TACSTD2–T/NK is negative, CLDN7 attenuates it about as much as CLDN4 (#732). The stable pin is the private KD co-culture, which is not in this repository.</a:t>
            </a:r>
          </a:p>
          <a:p>
            <a:r>
              <a:t>P2-17: Do not quote the 174% path ratio as a mediation share. GSE205335 alone prefers independence. TCGA cohorts do not vote as one graph, and adding LUSC flips the sum. A lower BIC is a covariance description, not a knockdown.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skip list is in MASTER_PPT_TABLE.md. Remaining items: GSE126044 non-responders have higher TJ; Visium / Stereo-seq / GeoMx / official Xenium lung panel; Human ICI bulk CLDN4 rises after resistance; Public mouse merged with private 8KL; Discordant human scRNA added to concordant-4; Broad Tacstd2-high GSEA, TJ in ranks 1–3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4C"/>
                </a:solidFill>
                <a:latin typeface="Calibri"/>
              </a:rPr>
              <a:t>Master table — story-fit results</a:t>
            </a:r>
          </a:p>
          <a:p>
            <a:r>
              <a:rPr sz="1800" b="0">
                <a:solidFill>
                  <a:srgbClr val="1F2937"/>
                </a:solidFill>
                <a:latin typeface="Calibri"/>
              </a:rPr>
              <a:t>Part 1  Tacstd2 cold  +  tight junction          Part 2  CLDN4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41 limbs on the following slides: 29 YES and 12 PARTIAL. Copied from existing PRs. No new fits.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Largest effect = the biggest eligible number in the story direction. Locked primary = the pre-specified number when a sweep is larger. The lock is not replaced.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Part 1 cold is short-range CosMx, OncoSG, and TCGA CD8 — not concordant-4 TACSTD2 (that ρ is −0.112).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Part 1 TJ is real on GSE137244 (Cldn4 Δ=+5.570), concordant-4 apical-junction rank 1, and TCGA/GSE31210 GSEA. A 589-set ranking does not put TJ in the top 3.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Part 2 pin: concordant-4 ρ=−0.531 (largest scVI |ρ| −0.736), CosMx 0.36 / 0.52 (largest 8/8 fold 0.229× at 9 µm), IFN-γ NES −3.87, LSCC protein ρ=−0.531.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Public data do not separate CLDN4 from CLDN7 (difference p=0.17). That row stays PARTIAL. Private KD co-culture is outside this repo.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Skip list is the last slide. TISMO 49/64 is Tacstd2 up after ICB, not fewer T cells.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C4C"/>
                </a:solidFill>
                <a:latin typeface="Calibri"/>
              </a:rPr>
              <a:t>Part 1 — Tacstd2 cold 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Calibri"/>
              </a:rPr>
              <a:t>Largest effect is not a replacement for the locked primary. Caveats are in MASTER_PPT_TABLE.md.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804672"/>
          <a:ext cx="11768328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331720"/>
                <a:gridCol w="868680"/>
                <a:gridCol w="3794760"/>
                <a:gridCol w="2880360"/>
                <a:gridCol w="1234440"/>
              </a:tblGrid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Limb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Largest effect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Locked primary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CosMx He2022: TACSTD2-high tumor vs CD8+NK neighbors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0.455× at 10 µm; 0.670× at 20 µm; 8/8 and 5/5; sign P=0.031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Same. Not a replacement for CLDN4 0.36 / 0.52.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#726 (table in #735, #738, #739)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P1-C2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OncoSG LUAD: TACSTD2 vs T/NK-class scores after published PURITY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IMSIG NK partial ρ=−0.421; IMSIG T −0.404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CD8A partial ρ=−0.309 (p=4.69e-5); GEP18 −0.349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#139 (restated #735, #736, #739)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TCGA LUAD+LUSC: TACSTD2 vs CD8A after ABSOLUTE purity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LUSC partial ρ=−0.244 (n=493)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Pooled ρ=−0.191 (n=995); LUAD −0.104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#107 (restated #739)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P1-C4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TCGA ESTIMATE ImmuneScore after ABSOLUTE purity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LUSC ImmuneScore partial ρ=−0.131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Pooled −0.107; LUAD +0.072 (not significant)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#107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TCGA eight primary cohorts: TACSTD2 vs CD8 after keratin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Sweep ρ=−0.119 (7/8; p=4.98e-5)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KRT8/18/19 ρ=−0.069 (6/8; p=0.043; I²=76%)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#593 primary; #705 largest all-patient sweep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P1-C6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CPTAC LUAD: TROP2 protein vs xCell CD8 / immune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LUAD xCell immune ρ=−0.309; CD8 −0.289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WES-partial CD8 ρ=−0.261. LSCC null.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#99 (restated #735, #739)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GSE31210 primary LUAD: TACSTD2 vs CD8A / ESTIMATE ImmuneScore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Unadj ImmuneScore ρ=−0.306; CD8A −0.289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ESTIMATE partial −0.023 / −0.107 (not significant)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C4C"/>
                </a:solidFill>
                <a:latin typeface="Calibri"/>
              </a:rPr>
              <a:t>Part 1 — Tacstd2 cold 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Calibri"/>
              </a:rPr>
              <a:t>Largest effect is not a replacement for the locked primary. Caveats are in MASTER_PPT_TABLE.md.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804672"/>
          <a:ext cx="11768328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331720"/>
                <a:gridCol w="868680"/>
                <a:gridCol w="3794760"/>
                <a:gridCol w="2880360"/>
                <a:gridCol w="1234440"/>
              </a:tblGrid>
              <a:tr h="145161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Limb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Largest effect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Locked primary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</a:tr>
              <a:tr h="145161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Public mouse: Tacstd2 % epithelial vs T fraction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GSE295824 ρ=−0.612 (n=16, p=0.012)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Five-study pool c=−0.277, p=0.137 (n=34)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#724 (study call in #739)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45161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P1-C9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GSE137244 KL vs KP: IFN-compact score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IFN-compact Δ=−0.871, MW p=0.0317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Same. APM Δ=−0.500, p=0.31 (ns).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#685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145161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P1-C10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GSE131907: TACSTD2 %pos is higher in malignant / epithelial cells than in T/NK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MPE TACSTD2 %pos 83.8 vs T 1.4 / NK 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Tumor-site epithelial 75.0 vs T 2.8 / NK 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#745; tumor-site gap #230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C4C"/>
                </a:solidFill>
                <a:latin typeface="Calibri"/>
              </a:rPr>
              <a:t>Part 1 — Tacstd2 → TJ 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Calibri"/>
              </a:rPr>
              <a:t>Largest effect is not a replacement for the locked primary. Caveats are in MASTER_PPT_TABLE.md.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804672"/>
          <a:ext cx="11768328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331720"/>
                <a:gridCol w="868680"/>
                <a:gridCol w="3794760"/>
                <a:gridCol w="2880360"/>
                <a:gridCol w="1234440"/>
              </a:tblGrid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Limb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Largest effect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Locked primary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GSE137244 KL vs KP: Tacstd2, Cldn4, and TJ scores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Cldn4 Δ=+5.570; TJ_TISMO Δ=+3.269; Tacstd2 Δ=+3.238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Complete separation, exact MW p=0.00794 (5 vs 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#685 (deltas restated #746, #743, #724)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P1-T2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Concordant-4 malignant TACSTD2 Q4 vs Q1: junction and keratin up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ORA apical junction rank 1 (enrichment 5.89, FDR 1.3e-5)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Keratin NES=+2.83 (rank 2); KEGG TJ NES=+2.04 (rank 22)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#741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GSE31210: TACSTD2-high GSEA, tight junction and keratin up, EMT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KEGG TJ NES=+2.00; keratin +1.91; EMT −2.15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Same. Focal CLDN4 MAS5 Δ=+704, FDR=2e-9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P1-T4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OncoSG: TACSTD2-high keratin up and EMT down; KEGG TJ not up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Keratin NES=+1.92; EMT NES=−2.33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KEGG TJ NES=−1.00 (not up). CLDN4 z Δ=+1.28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#736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TCGA histology-split: TACSTD2-high tight-junction GSEA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LUSC TJ assembly NES=2.18 (FDR 0.004)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LUAD KEGG TJ NES=2.09 (FDR 0.005)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P1-T6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GSE131907 tumor-site epithelium: TACSTD2 prerank tight-junction GSEA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TJ-core NES=2.21 (FDR 0)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NES=2.17 after dropping CLDN4 and TACSTD2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#230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GSE137244 and GSE165641: is TJ the top Tacstd2-high pathway?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Focused TJ-core NES=2.34, rank 1 (#746)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Broad universe: best TJ rank 21, not top 3 (#744)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#746 focused rank; #744 broad rank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C4C"/>
                </a:solidFill>
                <a:latin typeface="Calibri"/>
              </a:rPr>
              <a:t>Part 1 — Tacstd2 → TJ 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Calibri"/>
              </a:rPr>
              <a:t>Largest effect is not a replacement for the locked primary. Caveats are in MASTER_PPT_TABLE.md.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804672"/>
          <a:ext cx="11768328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331720"/>
                <a:gridCol w="868680"/>
                <a:gridCol w="3794760"/>
                <a:gridCol w="2880360"/>
                <a:gridCol w="1234440"/>
              </a:tblGrid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Limb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Largest effect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Locked primary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Public mouse epithelium: Tacstd2-high vs low TJ_TISMO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7/7 mice, mean Δ=+0.261, binomial p=0.0078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Same frozen TJ_TISMO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P1-T9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GSE131907 MPE: TACSTD2 Q4 vs Q1 TJ-core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TJ-core Δ=+0.16, p=9.5e-8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Still p=4.7e-8 after dropping CLDN4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#745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DepMap / Gygi CCLE lung lines: TROP2 with CLDN4 and TJ scores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RNA CLDN4-edge ρ=+0.696 (n=143); protein max ρ=0.846 (n=17)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Protein ρ=0.693 (n=45). RNA CLDN4 ρ=+0.667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#740 RNA and n=45 protein; #697 protein grid maximum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P1-T11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TCGA: TACSTD2 tracks CLDN4 after KRT8/18/19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Pooled ρ=0.315, 19/21, p=3.82e-20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CLDN7 ρ=0.242 (19/21). Mouse Tacstd2→Cldn4 rank 1 (#200)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#593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GSE131907: CLDN4-positive cells co-detect TACSTD2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Primary tS OR=7.45 (92.0% vs 60.7%)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Sample ρ=0.770 (n=10). MPE OR=5.00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#635 (MPE OR also in #745)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P1-T13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TCGA-LUAD: structural 15-gene TJ vs CD8 / GEP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TJ-15 vs CD8 ρ=−0.29 (p=1.6e-11)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Purity partial ρ=−0.26 (n=511)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#90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P1-T14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CosMx: epithelial program that contains CLDN4 and TACSTD2 vs CD8 at 50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Program vs CD8 ρ=−0.228; count ≈0.61×; 5/5 and 8/8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Adhesion-only ρ=−0.213. CLDN4 alone ρ=−0.065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#643 (restated #738)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C4C"/>
                </a:solidFill>
                <a:latin typeface="Calibri"/>
              </a:rPr>
              <a:t>Part 2 — CLDN4 pin 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Calibri"/>
              </a:rPr>
              <a:t>Largest effect is not a replacement for the locked primary. Caveats are in MASTER_PPT_TABLE.md.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804672"/>
          <a:ext cx="11768328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331720"/>
                <a:gridCol w="868680"/>
                <a:gridCol w="3794760"/>
                <a:gridCol w="2880360"/>
                <a:gridCol w="1234440"/>
              </a:tblGrid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Limb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Largest effect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Locked primary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Concordant-4: malignant CLDN4 vs patient T/NK fraction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scVI fraction ρ=−0.736 (I²=22%; χ²=36.25)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%pos ρ=−0.531 (I²=0%, N=65); Cliff δ=−0.724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#539 / #503 locked; #712 joint max; #703 largest |ρ|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P2-2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GSE131907 author-malignant CLDN4 vs patient T/NK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Mean log-norm ρ=−0.532 (n=21, p=0.013)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%pos ρ=−0.478 (p=0.028)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#541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CosMx He2022: CLDN4-high tumor has fewer immune neighbors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0.229× immune fraction at 9 µm; 8/8 and 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Cytotoxic 0.36 at 50 µm and 0.52 at 100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Locked ratios in the public handoff and #698; largest 8/8 fold #696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P2-4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CosMx: exclusion, not muzzling, of nearby effectors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Effector hi/lo 1.11–1.22; 0/8 decreased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Same. GZMB nearest-tumor ratio 1.18 (8/8)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Public handoff; restated #629 and #738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CosMx: CLDN4-high tumor is less likely to contact a CD8 cell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FOV-stratified OR 0.560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Pooled OR 0.584; 8/8 and 5/5; perm p=0.00020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P2-6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CosMx: CLDN4-specific cross-type g(r) vs CD8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Δg_inhom = −0.043 at 22.5 µm (p=1.1e-12)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Same. 17/159 FOVs survive BH-FDR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#561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Concordant-4 malignant CLDN4-high: IFN and MHC pathways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IFN-γ NES=−3.87 (grid maximum, #709)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Prior fgsea −3.85; IFN-α −3.42; MHC −2.75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#709 largest NES; #691 fgsea; #503 family 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C4C"/>
                </a:solidFill>
                <a:latin typeface="Calibri"/>
              </a:rPr>
              <a:t>Part 2 — CLDN4 pin 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Calibri"/>
              </a:rPr>
              <a:t>Largest effect is not a replacement for the locked primary. Caveats are in MASTER_PPT_TABLE.md.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804672"/>
          <a:ext cx="11768328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331720"/>
                <a:gridCol w="868680"/>
                <a:gridCol w="3794760"/>
                <a:gridCol w="2880360"/>
                <a:gridCol w="1234440"/>
              </a:tblGrid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Limb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Largest effect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Locked primary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CPTAC LSCC: CLDN4 protein vs immune RNA and protein; structural TJ-15 is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Composite protein ρ=−0.531 (n=78, #708)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ImmuneScore ρ=−0.432. TJ-15 ρ=−0.082 (null)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#708 largest composite; #289 ImmuneScore and TJ-15; #596 MHC-I and CD8A protein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P2-9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CLDN4-high malignant signature vs CD8A across bulk LUAD cohorts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ImmuneScore meta ρ=−0.574 (I²=0%)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CD8A meta ρ=−0.533 (n sum=420, I²=0%)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#693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Concordant-4: CLDN4-high malignant cells send more barrier ligands to T/NK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+27.8 percentage points (decile; n=60)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Q4 vs Q1 +25.6 pp (n=64). CellPhoneDB Δ=+0.253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#713 largest proportion; #711 score Δ; #579 consensus 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P2-11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Concordant-4 Milo: T/NK neighbourhoods down where malignant CLDN4 is high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Median |log2FC| 3.102 (24 down, 0 up)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Front count: 111 down / 4 up (|log2FC| 1.596)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#701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OncoSG: CLDN4 vs CD8A / ImmuneScore after PURITY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Unadj ImmuneScore ρ=−0.432; CD8A −0.416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Partial ImmuneScore −0.308; CD8A −0.285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P2-13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GSE31210: CLDN4 vs CD8A / ImmuneScore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Unadj ImmuneScore ρ=−0.366; CD8A −0.341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ESTIMATE partial −0.031 / −0.127 (ns)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#736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72580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TCGA: CLDN4 vs CD8 after keratin adjustment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KRT5/6 sweep ρ=−0.134 (8/8)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KRT8/18/19 ρ=−0.081. Surface rank does not pin CLDN4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#593 primary; #705 all-patient maximum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C4C"/>
                </a:solidFill>
                <a:latin typeface="Calibri"/>
              </a:rPr>
              <a:t>Part 2 — CLDN4 pin 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Calibri"/>
              </a:rPr>
              <a:t>Largest effect is not a replacement for the locked primary. Caveats are in MASTER_PPT_TABLE.md.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804672"/>
          <a:ext cx="11768328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331720"/>
                <a:gridCol w="868680"/>
                <a:gridCol w="3794760"/>
                <a:gridCol w="2880360"/>
                <a:gridCol w="1234440"/>
              </a:tblGrid>
              <a:tr h="145161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Limb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Largest effect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Locked primary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anchor="ctr">
                    <a:solidFill>
                      <a:srgbClr val="0F2C4C"/>
                    </a:solidFill>
                  </a:tcPr>
                </a:tc>
              </a:tr>
              <a:tr h="145161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Concordant-4: CLDN4–T/NK association remains after TACSTD2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7A4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5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Partial ρ=−0.543 given TACSTD2 (4/4, I²=0)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Unadjusted ρ=−0.531. TACSTD2 alone is −0.112 (null)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#733 and #718; residual #725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45161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P2-16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Public scRNA: CLDN4 vs CLDN7 / EPCAM on the same T/NK endpoint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Unique ρ=−0.465 after keratin and CLDN7 (p=0.0002)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Head-to-head vs CLDN7 p=0.17 (not separated)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#644</a:t>
                      </a:r>
                    </a:p>
                  </a:txBody>
                  <a:tcPr anchor="ctr">
                    <a:solidFill>
                      <a:srgbClr val="F3F1EB"/>
                    </a:solidFill>
                  </a:tcPr>
                </a:tc>
              </a:tr>
              <a:tr h="145161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P2-17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SEM: graph TACSTD2 → CLDN4 → T/NK on concordant-4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5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ΔBIC 14.66 for TACSTD2 → CLDN4 → T/NK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CLDN4 direct −0.525. TACSTD2 total CI includes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#725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C4C"/>
                </a:solidFill>
                <a:latin typeface="Calibri"/>
              </a:rPr>
              <a:t>Do not paste as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Calibri"/>
              </a:rPr>
              <a:t>These calls are real and are not slide evidence for either part.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" y="804672"/>
          <a:ext cx="11704320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371600"/>
                <a:gridCol w="5760720"/>
                <a:gridCol w="1554480"/>
              </a:tblGrid>
              <a:tr h="446649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6B2D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>
                    <a:solidFill>
                      <a:srgbClr val="6B2D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6B2D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6B2D2D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Concordant-4 TACSTD2 %pos vs T/NK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ρ=−0.112, p=0.46, I²=15%, N=65. Do not quote CLDN4 ρ=−0.531 as TACSTD2.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#718 / #739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CosMx TACSTD2 at 50 and 100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Not 8/8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Count ratios 0.854 (7/8) and 0.947 (4/8). Short-range 0.455 / 0.670 is the YES row.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#726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CPTAC TROP2 protein vs CD8A protein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LUAD ρ=−0.038 and LSCC ρ=−0.103; both CIs cross 0.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#721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CPTAC LSCC TROP2 protein vs xCell CD8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ρ=−0.080, n=108, p=0.41.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TISMO Tacstd2 after ICB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Not fewer T/NK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49/64 groups up, Wilcoxon p=5.8e-5. Cldn4 is 34/64, not 49/64. Baseline CD8 link is positive. No true KL/KP lung line.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#152 / #173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Public GEMM Cldn4 %pos vs T/NK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Opposite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REML pooled ρ=+0.477, p=0.302, I²=72%, 34 mice. IFN pooled ρ=+0.092.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#677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Mouse n=4 Cldn4 or Tacstd2 vs T fraction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Exploratory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ρ=−1.000, exact p=0.083. Not confirmatory. IFN/APM on the same grid can be ρ=+1.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#700 / #743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DepMap NSCLC TROP2 vs Hallmark IFN-γ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Opposite of cold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ρ=+0.339 (n=143). TJ does not explain it away (partial +0.277).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Concordant-4 broad TJ score vs T/NK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ρ=+0.137, p=0.60. TJ-core ρ=−0.191, p=0.41. Immune exclusion stays on CLDN4 %pos.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#741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CLDN4 Q4 vs Q1 KEGG tight junction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Not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NES=+1.13; patient bootstrap crosses zero.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6649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TACSTD2 → CLDN4 → immune mediation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NULL as a proportion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CosMx and concordant-4 primary mediation rows are null (#718). No spec kept mediation proportion inside (0, 1) with a negative direct coefficient (#733). CosMx 10–20 µm TACSTD2 …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#718 / #733 / #726</a:t>
                      </a:r>
                    </a:p>
                  </a:txBody>
                  <a:tcPr anchor="ctr">
                    <a:solidFill>
                      <a:srgbClr val="F8EAEA"/>
                    </a:solidFill>
                  </a:tcPr>
                </a:tc>
              </a:tr>
              <a:tr h="44665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TCGA surface ranking as a CLDN4 pin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1F2937"/>
                          </a:solidFill>
                          <a:latin typeface="Calibri"/>
                        </a:rPr>
                        <a:t>Does not pin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LUAD CLDN4 rank 7, partial +0.122. CLDN7, EPCAM, and MUC1 are stronger. Head-to-head vs CLDN7 on concordant-4 is p=0.17 (#644).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F2937"/>
                          </a:solidFill>
                          <a:latin typeface="Calibri"/>
                        </a:rPr>
                        <a:t>Handoff; #644; #728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PPT table — story-fit YES and PARTIAL limbs</dc:title>
  <dc:subject>Tacstd2 cold + TJ; CLDN4 pin. Numbers from existing PRs only.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